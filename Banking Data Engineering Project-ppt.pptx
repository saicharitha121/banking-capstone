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2F26-63FB-4DEF-8076-FF9A9C5D2E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5D013F-7282-DB45-FAA0-0BA0F6BC97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F61D26-8D07-D3D3-C054-4BC60EB066F3}"/>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5" name="Footer Placeholder 4">
            <a:extLst>
              <a:ext uri="{FF2B5EF4-FFF2-40B4-BE49-F238E27FC236}">
                <a16:creationId xmlns:a16="http://schemas.microsoft.com/office/drawing/2014/main" id="{E463A3D4-573D-3D55-802C-7FF393ABB7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8B730F-6A3F-2901-B203-E5F0FD30F8F0}"/>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3651481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6BEDD-C017-D5E5-8325-56CD1CC2DC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59C66E-5656-4772-8377-81964755B6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45E368-14B4-3DC1-5403-27F910865259}"/>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5" name="Footer Placeholder 4">
            <a:extLst>
              <a:ext uri="{FF2B5EF4-FFF2-40B4-BE49-F238E27FC236}">
                <a16:creationId xmlns:a16="http://schemas.microsoft.com/office/drawing/2014/main" id="{8BCDB3DE-41A6-3074-AD60-1AAB4AA1C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FA5A5A-001F-9810-14B1-17381E147FEE}"/>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288550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E8CD1-5122-5E8A-DADD-4F8985356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9CC65B-BF22-BE83-899C-B2734D3122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83F2DA-BF49-19AD-1C79-B927665BF053}"/>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5" name="Footer Placeholder 4">
            <a:extLst>
              <a:ext uri="{FF2B5EF4-FFF2-40B4-BE49-F238E27FC236}">
                <a16:creationId xmlns:a16="http://schemas.microsoft.com/office/drawing/2014/main" id="{0A8D98AD-A445-3F88-DE0A-205FF95E67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4FBFE4-B484-9591-E43B-35037F0E9428}"/>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1619223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56D7-C09C-126C-1991-0E28FE132D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761B8C-E7FB-DBC8-862F-4434EB66DA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09AB1B-A1B1-C5BE-9951-DC9EB98EBB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6C0208-A866-5301-22AB-091801054DF3}"/>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6" name="Footer Placeholder 5">
            <a:extLst>
              <a:ext uri="{FF2B5EF4-FFF2-40B4-BE49-F238E27FC236}">
                <a16:creationId xmlns:a16="http://schemas.microsoft.com/office/drawing/2014/main" id="{F392536F-C97D-333B-A259-8AF500007C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B12CDF-A5FE-1806-90F0-A8596752E959}"/>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229113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CB826-6592-0456-213F-A7951FC246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A5187E-8EB2-9C74-60F6-C65FA7053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35FA23-2F5F-EF5E-0CC6-12B4678BB5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F06433-6586-B933-2111-1B3EF20BF0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82344A-8DC7-68B3-06F3-530C50D1E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AFA524-E993-A103-C882-5648A06E8AB7}"/>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8" name="Footer Placeholder 7">
            <a:extLst>
              <a:ext uri="{FF2B5EF4-FFF2-40B4-BE49-F238E27FC236}">
                <a16:creationId xmlns:a16="http://schemas.microsoft.com/office/drawing/2014/main" id="{EDEE1E8B-4B4B-0637-1C5E-89FA7B02E3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FC8C60-E21F-5AC5-9255-D39BA0A81F11}"/>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2866619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E4FC-E2F4-F053-9D85-514C23417B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38C1AB-F506-032E-7578-BB1637C3997F}"/>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4" name="Footer Placeholder 3">
            <a:extLst>
              <a:ext uri="{FF2B5EF4-FFF2-40B4-BE49-F238E27FC236}">
                <a16:creationId xmlns:a16="http://schemas.microsoft.com/office/drawing/2014/main" id="{754960C8-B774-4358-E2C0-547E397073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EC8D2B-23F3-FF5F-F0A9-7683B7EBA62F}"/>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405401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E21276-850F-D657-D103-B8B36F3CB4DE}"/>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3" name="Footer Placeholder 2">
            <a:extLst>
              <a:ext uri="{FF2B5EF4-FFF2-40B4-BE49-F238E27FC236}">
                <a16:creationId xmlns:a16="http://schemas.microsoft.com/office/drawing/2014/main" id="{38FDADF9-F48C-E154-3AAF-38CE841CA6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64DBEEF-44A3-0877-A205-1456892729E2}"/>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1888247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167DF-EDD6-8C68-A5B9-9CCFAAEC7D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C24718-661E-8495-279F-36ED6A1A3D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9220A1-2EB4-BA38-DA75-C69891EAB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1C17B-E3A0-99C2-3218-D97ED81AAAAD}"/>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6" name="Footer Placeholder 5">
            <a:extLst>
              <a:ext uri="{FF2B5EF4-FFF2-40B4-BE49-F238E27FC236}">
                <a16:creationId xmlns:a16="http://schemas.microsoft.com/office/drawing/2014/main" id="{813CD6F7-6940-3864-EFF0-9E6C6DB4E9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5AA0E6-C270-B1A8-78B5-6D910A990C40}"/>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2635988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20CFC-8FA1-AD0C-5E94-6A2DC598D8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4DF05B6-F8DA-77D7-652B-AD43B5DDB6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C5DB306-CD50-01C2-C13A-DB0D754E5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D1F227-39F8-CE3B-3347-A3858251E7F3}"/>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6" name="Footer Placeholder 5">
            <a:extLst>
              <a:ext uri="{FF2B5EF4-FFF2-40B4-BE49-F238E27FC236}">
                <a16:creationId xmlns:a16="http://schemas.microsoft.com/office/drawing/2014/main" id="{D0A48864-17F5-1EA6-D046-49413AAE34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265AD9-A4FF-C340-6695-DED11BAAE3F5}"/>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2672000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4804F-DEC0-2D23-465E-C0EAD9114A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3D9D1A-F2A5-24C6-682A-C370CA5B4E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E438EE-04F8-AC50-5AC6-F13482CD37F9}"/>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5" name="Footer Placeholder 4">
            <a:extLst>
              <a:ext uri="{FF2B5EF4-FFF2-40B4-BE49-F238E27FC236}">
                <a16:creationId xmlns:a16="http://schemas.microsoft.com/office/drawing/2014/main" id="{56EEEE77-FE59-B57B-420F-49EA59B85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239DA0-12A0-77A2-1065-7B9AB3B6D24E}"/>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903047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E9F878-E82D-0C8E-AD2C-E98128DA47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E18BC5-515F-568B-FF41-201FF50D7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5D45CD-1780-FF39-425D-FBB929501C55}"/>
              </a:ext>
            </a:extLst>
          </p:cNvPr>
          <p:cNvSpPr>
            <a:spLocks noGrp="1"/>
          </p:cNvSpPr>
          <p:nvPr>
            <p:ph type="dt" sz="half" idx="10"/>
          </p:nvPr>
        </p:nvSpPr>
        <p:spPr/>
        <p:txBody>
          <a:bodyPr/>
          <a:lstStyle/>
          <a:p>
            <a:fld id="{B238DF9A-4798-4491-B485-EA67066DBC12}" type="datetimeFigureOut">
              <a:rPr lang="en-IN" smtClean="0"/>
              <a:t>10-12-2025</a:t>
            </a:fld>
            <a:endParaRPr lang="en-IN"/>
          </a:p>
        </p:txBody>
      </p:sp>
      <p:sp>
        <p:nvSpPr>
          <p:cNvPr id="5" name="Footer Placeholder 4">
            <a:extLst>
              <a:ext uri="{FF2B5EF4-FFF2-40B4-BE49-F238E27FC236}">
                <a16:creationId xmlns:a16="http://schemas.microsoft.com/office/drawing/2014/main" id="{2BD877E5-5956-9E69-E1DC-F2765876BA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0F44D7-9152-C792-F4A7-7505BA580F7D}"/>
              </a:ext>
            </a:extLst>
          </p:cNvPr>
          <p:cNvSpPr>
            <a:spLocks noGrp="1"/>
          </p:cNvSpPr>
          <p:nvPr>
            <p:ph type="sldNum" sz="quarter" idx="12"/>
          </p:nvPr>
        </p:nvSpPr>
        <p:spPr/>
        <p:txBody>
          <a:bodyPr/>
          <a:lstStyle/>
          <a:p>
            <a:fld id="{4160171F-205B-4E27-A43D-CB57B383ECA8}" type="slidenum">
              <a:rPr lang="en-IN" smtClean="0"/>
              <a:t>‹#›</a:t>
            </a:fld>
            <a:endParaRPr lang="en-IN"/>
          </a:p>
        </p:txBody>
      </p:sp>
    </p:spTree>
    <p:extLst>
      <p:ext uri="{BB962C8B-B14F-4D97-AF65-F5344CB8AC3E}">
        <p14:creationId xmlns:p14="http://schemas.microsoft.com/office/powerpoint/2010/main" val="3228264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59EFD0-C3E4-A924-5DF7-01C25A1010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F1FEF7-DA5A-164D-7CCD-DE133B4CA1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4A6A55-622B-B092-301E-8D0ECC402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38DF9A-4798-4491-B485-EA67066DBC12}" type="datetimeFigureOut">
              <a:rPr lang="en-IN" smtClean="0"/>
              <a:t>10-12-2025</a:t>
            </a:fld>
            <a:endParaRPr lang="en-IN"/>
          </a:p>
        </p:txBody>
      </p:sp>
      <p:sp>
        <p:nvSpPr>
          <p:cNvPr id="5" name="Footer Placeholder 4">
            <a:extLst>
              <a:ext uri="{FF2B5EF4-FFF2-40B4-BE49-F238E27FC236}">
                <a16:creationId xmlns:a16="http://schemas.microsoft.com/office/drawing/2014/main" id="{9A278AD0-D299-02AB-2131-456DA346BB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36BC1E-B94D-60D6-9F40-7801EC1DA3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60171F-205B-4E27-A43D-CB57B383ECA8}" type="slidenum">
              <a:rPr lang="en-IN" smtClean="0"/>
              <a:t>‹#›</a:t>
            </a:fld>
            <a:endParaRPr lang="en-IN"/>
          </a:p>
        </p:txBody>
      </p:sp>
    </p:spTree>
    <p:extLst>
      <p:ext uri="{BB962C8B-B14F-4D97-AF65-F5344CB8AC3E}">
        <p14:creationId xmlns:p14="http://schemas.microsoft.com/office/powerpoint/2010/main" val="2806777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A539-EFF6-39B8-CE8D-98A7E61355F1}"/>
              </a:ext>
            </a:extLst>
          </p:cNvPr>
          <p:cNvSpPr>
            <a:spLocks noGrp="1"/>
          </p:cNvSpPr>
          <p:nvPr>
            <p:ph type="ctrTitle"/>
          </p:nvPr>
        </p:nvSpPr>
        <p:spPr/>
        <p:txBody>
          <a:bodyPr/>
          <a:lstStyle/>
          <a:p>
            <a:r>
              <a:rPr lang="en-US" dirty="0">
                <a:latin typeface="Arial" panose="020B0604020202020204" pitchFamily="34" charset="0"/>
                <a:cs typeface="Arial" panose="020B0604020202020204" pitchFamily="34" charset="0"/>
              </a:rPr>
              <a:t>Banking Data Engineering Project</a:t>
            </a:r>
            <a:endParaRPr lang="en-I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1D7A76F-D1ED-88DA-9236-16634611C9A3}"/>
              </a:ext>
            </a:extLst>
          </p:cNvPr>
          <p:cNvSpPr>
            <a:spLocks noGrp="1"/>
          </p:cNvSpPr>
          <p:nvPr>
            <p:ph type="subTitle" idx="1"/>
          </p:nvPr>
        </p:nvSpPr>
        <p:spPr>
          <a:xfrm>
            <a:off x="4358640" y="4543870"/>
            <a:ext cx="9144000" cy="1655762"/>
          </a:xfrm>
        </p:spPr>
        <p:txBody>
          <a:bodyPr/>
          <a:lstStyle/>
          <a:p>
            <a:r>
              <a:rPr lang="en-US" dirty="0"/>
              <a:t>- </a:t>
            </a:r>
            <a:r>
              <a:rPr lang="en-US" dirty="0" err="1"/>
              <a:t>Vankadari</a:t>
            </a:r>
            <a:r>
              <a:rPr lang="en-US" dirty="0"/>
              <a:t> Sai Charitha</a:t>
            </a:r>
            <a:endParaRPr lang="en-IN" dirty="0"/>
          </a:p>
        </p:txBody>
      </p:sp>
    </p:spTree>
    <p:extLst>
      <p:ext uri="{BB962C8B-B14F-4D97-AF65-F5344CB8AC3E}">
        <p14:creationId xmlns:p14="http://schemas.microsoft.com/office/powerpoint/2010/main" val="1566080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5D7FF-8D22-4552-8631-5003A23E2AFD}"/>
              </a:ext>
            </a:extLst>
          </p:cNvPr>
          <p:cNvSpPr>
            <a:spLocks noGrp="1"/>
          </p:cNvSpPr>
          <p:nvPr>
            <p:ph type="title"/>
          </p:nvPr>
        </p:nvSpPr>
        <p:spPr>
          <a:xfrm>
            <a:off x="838200" y="365125"/>
            <a:ext cx="10515600" cy="1006475"/>
          </a:xfrm>
        </p:spPr>
        <p:txBody>
          <a:bodyPr>
            <a:normAutofit/>
          </a:bodyPr>
          <a:lstStyle/>
          <a:p>
            <a:r>
              <a:rPr lang="en-US" sz="3200" dirty="0">
                <a:latin typeface="Arial" panose="020B0604020202020204" pitchFamily="34" charset="0"/>
                <a:cs typeface="Arial" panose="020B0604020202020204" pitchFamily="34" charset="0"/>
              </a:rPr>
              <a:t>Main Objective :</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B932D8F-2230-81FA-BE82-4D7BC9FF150C}"/>
              </a:ext>
            </a:extLst>
          </p:cNvPr>
          <p:cNvSpPr>
            <a:spLocks noGrp="1"/>
          </p:cNvSpPr>
          <p:nvPr>
            <p:ph idx="1"/>
          </p:nvPr>
        </p:nvSpPr>
        <p:spPr>
          <a:xfrm>
            <a:off x="737616" y="1253331"/>
            <a:ext cx="10515600" cy="4351338"/>
          </a:xfrm>
        </p:spPr>
        <p:txBody>
          <a:bodyPr>
            <a:normAutofit fontScale="92500" lnSpcReduction="20000"/>
          </a:bodyPr>
          <a:lstStyle/>
          <a:p>
            <a:pPr marL="0" indent="0">
              <a:lnSpc>
                <a:spcPct val="150000"/>
              </a:lnSpc>
              <a:buNone/>
            </a:pPr>
            <a:r>
              <a:rPr lang="en-US" sz="2400" dirty="0">
                <a:cs typeface="Arial" panose="020B0604020202020204" pitchFamily="34" charset="0"/>
              </a:rPr>
              <a:t>The main objective of this project is to build a modern, end-to-end banking data platform that can ingest, process, store, and analyze both real-time and batch financial data. The platform aims to provide unified customer insights, real-time fraud detection, reliable reporting for business and regulatory needs, and secure, automated data operations using Azure cloud technologies.</a:t>
            </a:r>
          </a:p>
          <a:p>
            <a:pPr marL="0" indent="0">
              <a:lnSpc>
                <a:spcPct val="150000"/>
              </a:lnSpc>
              <a:buNone/>
            </a:pPr>
            <a:r>
              <a:rPr lang="en-IN" sz="2400" b="1" dirty="0">
                <a:solidFill>
                  <a:schemeClr val="accent1"/>
                </a:solidFill>
                <a:latin typeface="Arial" panose="020B0604020202020204" pitchFamily="34" charset="0"/>
                <a:cs typeface="Arial" panose="020B0604020202020204" pitchFamily="34" charset="0"/>
              </a:rPr>
              <a:t>Prerequisites:</a:t>
            </a:r>
          </a:p>
          <a:p>
            <a:pPr marL="0" indent="0">
              <a:lnSpc>
                <a:spcPct val="150000"/>
              </a:lnSpc>
              <a:buNone/>
            </a:pPr>
            <a:r>
              <a:rPr lang="en-IN" sz="2400" dirty="0"/>
              <a:t>Azure Functions, Blob Storage, ADLS Gen2, Azure SQL, Cosmos DB, Azure Event Grid, Azure Service Bus, Python, </a:t>
            </a:r>
            <a:r>
              <a:rPr lang="en-IN" sz="2400" dirty="0" err="1"/>
              <a:t>PySpark</a:t>
            </a:r>
            <a:r>
              <a:rPr lang="en-IN" sz="2400" dirty="0"/>
              <a:t>, CI/CD (GitHub Actions/Azure DevOps), Monitoring (App Insights/Log Analytics), Network Security (Juniper </a:t>
            </a:r>
            <a:r>
              <a:rPr lang="en-IN" sz="2400" dirty="0" err="1"/>
              <a:t>vSRX</a:t>
            </a:r>
            <a:r>
              <a:rPr lang="en-IN" sz="2400" dirty="0"/>
              <a:t>/Azure Networking). </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397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ECBF-3AD3-3B70-D75F-652A479646C5}"/>
              </a:ext>
            </a:extLst>
          </p:cNvPr>
          <p:cNvSpPr>
            <a:spLocks noGrp="1"/>
          </p:cNvSpPr>
          <p:nvPr>
            <p:ph type="title"/>
          </p:nvPr>
        </p:nvSpPr>
        <p:spPr>
          <a:xfrm>
            <a:off x="838200" y="365125"/>
            <a:ext cx="10515600" cy="869315"/>
          </a:xfrm>
        </p:spPr>
        <p:txBody>
          <a:bodyPr>
            <a:normAutofit/>
          </a:bodyPr>
          <a:lstStyle/>
          <a:p>
            <a:r>
              <a:rPr lang="en-US" sz="3600" dirty="0">
                <a:latin typeface="Arial" panose="020B0604020202020204" pitchFamily="34" charset="0"/>
                <a:cs typeface="Arial" panose="020B0604020202020204" pitchFamily="34" charset="0"/>
              </a:rPr>
              <a:t>DAY 1:</a:t>
            </a:r>
            <a:r>
              <a:rPr lang="en-IN" sz="3600" dirty="0">
                <a:latin typeface="Arial" panose="020B0604020202020204" pitchFamily="34" charset="0"/>
                <a:cs typeface="Arial" panose="020B0604020202020204" pitchFamily="34" charset="0"/>
              </a:rPr>
              <a:t> Architecture &amp; Ingestion</a:t>
            </a:r>
          </a:p>
        </p:txBody>
      </p:sp>
      <p:sp>
        <p:nvSpPr>
          <p:cNvPr id="3" name="Content Placeholder 2">
            <a:extLst>
              <a:ext uri="{FF2B5EF4-FFF2-40B4-BE49-F238E27FC236}">
                <a16:creationId xmlns:a16="http://schemas.microsoft.com/office/drawing/2014/main" id="{FE019877-124B-BA07-C1D4-2CA1D360C5DF}"/>
              </a:ext>
            </a:extLst>
          </p:cNvPr>
          <p:cNvSpPr>
            <a:spLocks noGrp="1"/>
          </p:cNvSpPr>
          <p:nvPr>
            <p:ph idx="1"/>
          </p:nvPr>
        </p:nvSpPr>
        <p:spPr>
          <a:xfrm>
            <a:off x="838200" y="1234440"/>
            <a:ext cx="10515600" cy="5258435"/>
          </a:xfrm>
        </p:spPr>
        <p:txBody>
          <a:bodyPr>
            <a:noAutofit/>
          </a:bodyPr>
          <a:lstStyle/>
          <a:p>
            <a:pPr>
              <a:lnSpc>
                <a:spcPct val="120000"/>
              </a:lnSpc>
            </a:pPr>
            <a:r>
              <a:rPr lang="en-US" sz="2000" b="1" dirty="0">
                <a:solidFill>
                  <a:schemeClr val="accent1"/>
                </a:solidFill>
              </a:rPr>
              <a:t>Goal:</a:t>
            </a:r>
          </a:p>
          <a:p>
            <a:pPr marL="0" indent="0">
              <a:lnSpc>
                <a:spcPct val="120000"/>
              </a:lnSpc>
              <a:buNone/>
            </a:pPr>
            <a:r>
              <a:rPr lang="en-US" sz="2000" dirty="0"/>
              <a:t> Creating the ingestion layer. On Day 1 we will make sure incoming data (real-time events and batch files) can enter Azure safely and reliably, and that storage and event routing are ready for the next processing steps.</a:t>
            </a:r>
          </a:p>
          <a:p>
            <a:pPr>
              <a:lnSpc>
                <a:spcPct val="120000"/>
              </a:lnSpc>
            </a:pPr>
            <a:r>
              <a:rPr lang="en-US" sz="2000" b="1" dirty="0">
                <a:solidFill>
                  <a:schemeClr val="accent1"/>
                </a:solidFill>
              </a:rPr>
              <a:t>Requirements: </a:t>
            </a:r>
          </a:p>
          <a:p>
            <a:pPr marL="0" indent="0">
              <a:lnSpc>
                <a:spcPct val="120000"/>
              </a:lnSpc>
              <a:buNone/>
            </a:pPr>
            <a:r>
              <a:rPr lang="en-US" sz="2000" dirty="0"/>
              <a:t> &gt;ADLS Gen2 storage account </a:t>
            </a:r>
          </a:p>
          <a:p>
            <a:pPr marL="0" indent="0">
              <a:lnSpc>
                <a:spcPct val="120000"/>
              </a:lnSpc>
              <a:buNone/>
            </a:pPr>
            <a:r>
              <a:rPr lang="en-US" sz="2000" dirty="0"/>
              <a:t>Containers: </a:t>
            </a:r>
          </a:p>
          <a:p>
            <a:pPr marL="0" indent="0">
              <a:lnSpc>
                <a:spcPct val="120000"/>
              </a:lnSpc>
              <a:buNone/>
            </a:pPr>
            <a:r>
              <a:rPr lang="en-US" sz="2000" dirty="0"/>
              <a:t>  - raw/transactions, raw/customers, raw/atm, raw/</a:t>
            </a:r>
            <a:r>
              <a:rPr lang="en-US" sz="2000" dirty="0" err="1"/>
              <a:t>upi</a:t>
            </a:r>
            <a:endParaRPr lang="en-US" sz="2000" dirty="0"/>
          </a:p>
          <a:p>
            <a:pPr marL="0" indent="0">
              <a:lnSpc>
                <a:spcPct val="120000"/>
              </a:lnSpc>
              <a:buNone/>
            </a:pPr>
            <a:r>
              <a:rPr lang="en-US" sz="2000" dirty="0"/>
              <a:t>&gt;Azure Event Grid and Service Bus enabled</a:t>
            </a:r>
          </a:p>
          <a:p>
            <a:pPr marL="0" indent="0">
              <a:lnSpc>
                <a:spcPct val="120000"/>
              </a:lnSpc>
              <a:buNone/>
            </a:pPr>
            <a:r>
              <a:rPr lang="en-US" sz="2000" dirty="0"/>
              <a:t>&gt; Azure Functions app and storage account for function apps</a:t>
            </a:r>
            <a:br>
              <a:rPr lang="en-US" sz="2000" dirty="0"/>
            </a:br>
            <a:r>
              <a:rPr lang="en-US" sz="2000" dirty="0"/>
              <a:t>&gt; To test locally need azurite install requirements</a:t>
            </a:r>
            <a:endParaRPr lang="en-IN" sz="2000" dirty="0"/>
          </a:p>
        </p:txBody>
      </p:sp>
    </p:spTree>
    <p:extLst>
      <p:ext uri="{BB962C8B-B14F-4D97-AF65-F5344CB8AC3E}">
        <p14:creationId xmlns:p14="http://schemas.microsoft.com/office/powerpoint/2010/main" val="4210349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CEED2-6B1A-F41A-47DD-D3D2DC2BADFA}"/>
              </a:ext>
            </a:extLst>
          </p:cNvPr>
          <p:cNvSpPr>
            <a:spLocks noGrp="1"/>
          </p:cNvSpPr>
          <p:nvPr>
            <p:ph idx="1"/>
          </p:nvPr>
        </p:nvSpPr>
        <p:spPr>
          <a:xfrm>
            <a:off x="838200" y="978408"/>
            <a:ext cx="10515600" cy="5198555"/>
          </a:xfrm>
        </p:spPr>
        <p:txBody>
          <a:bodyPr>
            <a:normAutofit lnSpcReduction="10000"/>
          </a:bodyPr>
          <a:lstStyle/>
          <a:p>
            <a:pPr marL="0" indent="0">
              <a:buNone/>
            </a:pPr>
            <a:r>
              <a:rPr lang="en-US" b="1" dirty="0">
                <a:solidFill>
                  <a:schemeClr val="accent1"/>
                </a:solidFill>
              </a:rPr>
              <a:t>Workflow of the Day 1:</a:t>
            </a:r>
          </a:p>
          <a:p>
            <a:pPr marL="0" indent="0">
              <a:lnSpc>
                <a:spcPct val="150000"/>
              </a:lnSpc>
              <a:buNone/>
            </a:pPr>
            <a:r>
              <a:rPr lang="en-US" sz="2000" dirty="0"/>
              <a:t>First we will draw the architecture and confirm which systems send data (ATMs, UPI, core banking). Then we will create ADLS Gen2 containers to hold raw files. Next, we enable Event Grid on those blob containers so that uploads raise events. We will create a Service Bus or storage queue for orchestration and deploy a basic Azure Function that listens for events, reads files from blob storage, and validates file metadata. Finally, we configure simple monitoring and a firewall rule so the environment is secure. By the end of the day we will have ingestion entry points ready and tested with sample files.</a:t>
            </a:r>
            <a:br>
              <a:rPr lang="en-US" sz="2000" dirty="0"/>
            </a:br>
            <a:br>
              <a:rPr lang="en-US" sz="2400" dirty="0"/>
            </a:br>
            <a:r>
              <a:rPr lang="en-IN" sz="2400" b="1" dirty="0">
                <a:solidFill>
                  <a:schemeClr val="accent1"/>
                </a:solidFill>
              </a:rPr>
              <a:t>Validation: </a:t>
            </a:r>
            <a:r>
              <a:rPr lang="en-IN" sz="2400" dirty="0"/>
              <a:t>Azure Portal → Storage Account →  Containers → Event Grid trigger → Service Bus →Peek Messages in Service Bus</a:t>
            </a:r>
          </a:p>
        </p:txBody>
      </p:sp>
    </p:spTree>
    <p:extLst>
      <p:ext uri="{BB962C8B-B14F-4D97-AF65-F5344CB8AC3E}">
        <p14:creationId xmlns:p14="http://schemas.microsoft.com/office/powerpoint/2010/main" val="4106067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BF2E-1ABA-4C8A-5911-25113964C726}"/>
              </a:ext>
            </a:extLst>
          </p:cNvPr>
          <p:cNvSpPr>
            <a:spLocks noGrp="1"/>
          </p:cNvSpPr>
          <p:nvPr>
            <p:ph type="title"/>
          </p:nvPr>
        </p:nvSpPr>
        <p:spPr>
          <a:xfrm>
            <a:off x="838200" y="1"/>
            <a:ext cx="10515600" cy="1170432"/>
          </a:xfrm>
        </p:spPr>
        <p:txBody>
          <a:bodyPr>
            <a:normAutofit/>
          </a:bodyPr>
          <a:lstStyle/>
          <a:p>
            <a:r>
              <a:rPr lang="en-US" sz="3200" dirty="0">
                <a:latin typeface="Arial" panose="020B0604020202020204" pitchFamily="34" charset="0"/>
                <a:cs typeface="Arial" panose="020B0604020202020204" pitchFamily="34" charset="0"/>
              </a:rPr>
              <a:t>Day2 : </a:t>
            </a:r>
            <a:r>
              <a:rPr lang="en-IN" sz="3200" dirty="0">
                <a:latin typeface="Arial" panose="020B0604020202020204" pitchFamily="34" charset="0"/>
                <a:cs typeface="Arial" panose="020B0604020202020204" pitchFamily="34" charset="0"/>
              </a:rPr>
              <a:t>Transformation Layer </a:t>
            </a:r>
          </a:p>
        </p:txBody>
      </p:sp>
      <p:sp>
        <p:nvSpPr>
          <p:cNvPr id="3" name="Content Placeholder 2">
            <a:extLst>
              <a:ext uri="{FF2B5EF4-FFF2-40B4-BE49-F238E27FC236}">
                <a16:creationId xmlns:a16="http://schemas.microsoft.com/office/drawing/2014/main" id="{4B8302BF-B4D1-BFDB-6CD5-ABAC352318E4}"/>
              </a:ext>
            </a:extLst>
          </p:cNvPr>
          <p:cNvSpPr>
            <a:spLocks noGrp="1"/>
          </p:cNvSpPr>
          <p:nvPr>
            <p:ph idx="1"/>
          </p:nvPr>
        </p:nvSpPr>
        <p:spPr>
          <a:xfrm>
            <a:off x="838200" y="1053750"/>
            <a:ext cx="10515600" cy="5593938"/>
          </a:xfrm>
        </p:spPr>
        <p:txBody>
          <a:bodyPr>
            <a:noAutofit/>
          </a:bodyPr>
          <a:lstStyle/>
          <a:p>
            <a:pPr marL="0" indent="0">
              <a:lnSpc>
                <a:spcPct val="170000"/>
              </a:lnSpc>
              <a:buNone/>
            </a:pPr>
            <a:r>
              <a:rPr lang="en-US" sz="2400" b="1" dirty="0">
                <a:solidFill>
                  <a:schemeClr val="accent1"/>
                </a:solidFill>
              </a:rPr>
              <a:t>Goal:  </a:t>
            </a:r>
            <a:r>
              <a:rPr lang="en-US" sz="1800" dirty="0"/>
              <a:t>The goal for Day 2 is to transform raw ingested data into clean, normalized operational records and store them in a fast NoSQL store (Cosmos DB). By the end of the day we want validated, de-duplicated transaction data available for quick lookups and ready for large-scale ETL.</a:t>
            </a:r>
          </a:p>
          <a:p>
            <a:pPr marL="0" indent="0">
              <a:lnSpc>
                <a:spcPct val="170000"/>
              </a:lnSpc>
              <a:buNone/>
            </a:pPr>
            <a:r>
              <a:rPr lang="en-US" sz="2400" b="1" dirty="0">
                <a:solidFill>
                  <a:schemeClr val="accent1"/>
                </a:solidFill>
              </a:rPr>
              <a:t>Requirements:</a:t>
            </a:r>
          </a:p>
          <a:p>
            <a:pPr marL="0" indent="0">
              <a:lnSpc>
                <a:spcPct val="170000"/>
              </a:lnSpc>
              <a:buNone/>
            </a:pPr>
            <a:r>
              <a:rPr lang="en-US" sz="1800" dirty="0"/>
              <a:t>      -  Working Event Grid + Service Bus / Storage Queue (Day 1 output)</a:t>
            </a:r>
          </a:p>
          <a:p>
            <a:pPr marL="0" indent="0">
              <a:lnSpc>
                <a:spcPct val="170000"/>
              </a:lnSpc>
              <a:buNone/>
            </a:pPr>
            <a:r>
              <a:rPr lang="en-US" sz="1800" dirty="0"/>
              <a:t>      -  ADLS Gen2 with raw files available from Day 1</a:t>
            </a:r>
          </a:p>
          <a:p>
            <a:pPr marL="0" lvl="0" indent="0" eaLnBrk="0" fontAlgn="base" hangingPunct="0">
              <a:lnSpc>
                <a:spcPct val="170000"/>
              </a:lnSpc>
              <a:spcBef>
                <a:spcPct val="0"/>
              </a:spcBef>
              <a:spcAft>
                <a:spcPct val="0"/>
              </a:spcAft>
              <a:buNone/>
            </a:pPr>
            <a:r>
              <a:rPr lang="en-US" sz="1800" dirty="0"/>
              <a:t>      -   </a:t>
            </a:r>
            <a:r>
              <a:rPr kumimoji="0" lang="en-US" altLang="en-US" sz="1800" b="0" i="0" u="none" strike="noStrike" cap="none" normalizeH="0" baseline="0" dirty="0">
                <a:ln>
                  <a:noFill/>
                </a:ln>
                <a:solidFill>
                  <a:schemeClr val="tx1"/>
                </a:solidFill>
                <a:effectLst/>
                <a:latin typeface="Arial" panose="020B0604020202020204" pitchFamily="34" charset="0"/>
              </a:rPr>
              <a:t>Azure Functions app permissions to read blobs and queues</a:t>
            </a:r>
          </a:p>
          <a:p>
            <a:pPr marL="0" lvl="0" indent="0" eaLnBrk="0" fontAlgn="base" hangingPunct="0">
              <a:lnSpc>
                <a:spcPct val="17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     -  Cosmos DB account (collections/throughput configured)</a:t>
            </a:r>
          </a:p>
          <a:p>
            <a:pPr marL="0" lvl="0" indent="0" eaLnBrk="0" fontAlgn="base" hangingPunct="0">
              <a:lnSpc>
                <a:spcPct val="17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sz="1800" dirty="0"/>
              <a:t>Databricks or Synapse Spark workspace for </a:t>
            </a:r>
            <a:r>
              <a:rPr lang="en-US" sz="1800" dirty="0" err="1"/>
              <a:t>PySpark</a:t>
            </a:r>
            <a:r>
              <a:rPr lang="en-US" sz="1800" dirty="0"/>
              <a:t> jobs</a:t>
            </a:r>
          </a:p>
          <a:p>
            <a:pPr marL="0" lvl="0" indent="0" eaLnBrk="0" fontAlgn="base" hangingPunct="0">
              <a:lnSpc>
                <a:spcPct val="17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dirty="0">
                <a:latin typeface="Arial" panose="020B0604020202020204" pitchFamily="34" charset="0"/>
              </a:rPr>
              <a:t>-   </a:t>
            </a:r>
            <a:r>
              <a:rPr lang="en-US" sz="1800" dirty="0"/>
              <a:t>Sample test files (ATM, UPI, core-banking extract)</a:t>
            </a:r>
          </a:p>
          <a:p>
            <a:pPr marL="0" lvl="0" indent="0" eaLnBrk="0" fontAlgn="base" hangingPunct="0">
              <a:lnSpc>
                <a:spcPct val="17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indent="0">
              <a:buNone/>
            </a:pPr>
            <a:endParaRPr lang="en-US" sz="1800" dirty="0"/>
          </a:p>
          <a:p>
            <a:pPr marL="0" indent="0">
              <a:buNone/>
            </a:pPr>
            <a:endParaRPr lang="en-US" sz="1800" dirty="0"/>
          </a:p>
          <a:p>
            <a:pPr marL="0" indent="0">
              <a:buNone/>
            </a:pPr>
            <a:br>
              <a:rPr lang="en-US" sz="1800" dirty="0"/>
            </a:br>
            <a:endParaRPr lang="en-US" sz="1800" dirty="0"/>
          </a:p>
          <a:p>
            <a:endParaRPr lang="en-IN" sz="1800" dirty="0"/>
          </a:p>
        </p:txBody>
      </p:sp>
    </p:spTree>
    <p:extLst>
      <p:ext uri="{BB962C8B-B14F-4D97-AF65-F5344CB8AC3E}">
        <p14:creationId xmlns:p14="http://schemas.microsoft.com/office/powerpoint/2010/main" val="1489512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98DF9-4A00-457C-0DE0-744167B62337}"/>
              </a:ext>
            </a:extLst>
          </p:cNvPr>
          <p:cNvSpPr>
            <a:spLocks noGrp="1"/>
          </p:cNvSpPr>
          <p:nvPr>
            <p:ph idx="1"/>
          </p:nvPr>
        </p:nvSpPr>
        <p:spPr>
          <a:xfrm>
            <a:off x="691896" y="618616"/>
            <a:ext cx="10515600" cy="6001640"/>
          </a:xfrm>
        </p:spPr>
        <p:txBody>
          <a:bodyPr>
            <a:normAutofit fontScale="70000" lnSpcReduction="20000"/>
          </a:bodyPr>
          <a:lstStyle/>
          <a:p>
            <a:pPr marL="0" indent="0">
              <a:lnSpc>
                <a:spcPct val="170000"/>
              </a:lnSpc>
              <a:buNone/>
            </a:pPr>
            <a:r>
              <a:rPr lang="en-US" sz="4600" b="1" dirty="0">
                <a:solidFill>
                  <a:schemeClr val="accent1"/>
                </a:solidFill>
              </a:rPr>
              <a:t>Workflow of the Day2:</a:t>
            </a:r>
          </a:p>
          <a:p>
            <a:pPr marL="0" indent="0">
              <a:lnSpc>
                <a:spcPct val="170000"/>
              </a:lnSpc>
              <a:buNone/>
            </a:pPr>
            <a:r>
              <a:rPr lang="en-US" sz="2600" dirty="0"/>
              <a:t>We start Day 2 by picking up messages from the queue created on Day 1. Small Python Azure Functions read the raw files, check the schema and basic data quality, remove duplicate transactions, and classify each record (ATM, UPI, IMPS etc.). Validated records are written to Cosmos DB collections so applications can read recent data quickly. For large-scale cleanup, we run </a:t>
            </a:r>
            <a:r>
              <a:rPr lang="en-US" sz="2600" dirty="0" err="1"/>
              <a:t>PySpark</a:t>
            </a:r>
            <a:r>
              <a:rPr lang="en-US" sz="2600" dirty="0"/>
              <a:t> jobs in Databricks to normalize fields (currency, timestamps), merge streams, and write refined data to Bronze → Silver → Gold layers in ADLS. By the end of the day we have a clean operational store and a repeatable </a:t>
            </a:r>
            <a:r>
              <a:rPr lang="en-US" sz="2600" dirty="0" err="1"/>
              <a:t>PySpark</a:t>
            </a:r>
            <a:r>
              <a:rPr lang="en-US" sz="2600" dirty="0"/>
              <a:t> pipeline.</a:t>
            </a:r>
          </a:p>
          <a:p>
            <a:pPr marL="0" indent="0">
              <a:lnSpc>
                <a:spcPct val="170000"/>
              </a:lnSpc>
              <a:buNone/>
            </a:pPr>
            <a:r>
              <a:rPr lang="en-US" b="1" dirty="0">
                <a:solidFill>
                  <a:schemeClr val="accent1"/>
                </a:solidFill>
              </a:rPr>
              <a:t>Validation: </a:t>
            </a:r>
            <a:r>
              <a:rPr lang="en-IN" dirty="0"/>
              <a:t>Upload File → Queue Trigger → Azure Function Execution → Schema Check → Duplicate Check → Transaction Type Classification → Cosmos DB Collections → </a:t>
            </a:r>
            <a:r>
              <a:rPr lang="en-IN" dirty="0" err="1"/>
              <a:t>PySpark</a:t>
            </a:r>
            <a:r>
              <a:rPr lang="en-IN" dirty="0"/>
              <a:t> Job Reads Data → </a:t>
            </a:r>
            <a:r>
              <a:rPr lang="en-IN" dirty="0" err="1"/>
              <a:t>PySpark</a:t>
            </a:r>
            <a:r>
              <a:rPr lang="en-IN" dirty="0"/>
              <a:t> Writes to Bronze/Silver → </a:t>
            </a:r>
            <a:r>
              <a:rPr lang="en-IN" dirty="0" err="1"/>
              <a:t>FraudAlerts</a:t>
            </a:r>
            <a:r>
              <a:rPr lang="en-IN" dirty="0"/>
              <a:t> Collection → Logs in App Insights</a:t>
            </a:r>
          </a:p>
          <a:p>
            <a:pPr marL="0" indent="0">
              <a:lnSpc>
                <a:spcPct val="170000"/>
              </a:lnSpc>
              <a:buNone/>
            </a:pPr>
            <a:br>
              <a:rPr lang="en-US" dirty="0"/>
            </a:br>
            <a:endParaRPr lang="en-US" dirty="0"/>
          </a:p>
          <a:p>
            <a:pPr marL="0" indent="0">
              <a:lnSpc>
                <a:spcPct val="170000"/>
              </a:lnSpc>
              <a:buNone/>
            </a:pPr>
            <a:endParaRPr lang="en-US" sz="2000" dirty="0"/>
          </a:p>
          <a:p>
            <a:pPr>
              <a:lnSpc>
                <a:spcPct val="170000"/>
              </a:lnSpc>
            </a:pPr>
            <a:endParaRPr lang="en-IN" dirty="0"/>
          </a:p>
        </p:txBody>
      </p:sp>
    </p:spTree>
    <p:extLst>
      <p:ext uri="{BB962C8B-B14F-4D97-AF65-F5344CB8AC3E}">
        <p14:creationId xmlns:p14="http://schemas.microsoft.com/office/powerpoint/2010/main" val="4168829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02FAB-484F-D383-0A4C-1F536D383838}"/>
              </a:ext>
            </a:extLst>
          </p:cNvPr>
          <p:cNvSpPr>
            <a:spLocks noGrp="1"/>
          </p:cNvSpPr>
          <p:nvPr>
            <p:ph type="title"/>
          </p:nvPr>
        </p:nvSpPr>
        <p:spPr>
          <a:xfrm>
            <a:off x="838200" y="365125"/>
            <a:ext cx="10515600" cy="814451"/>
          </a:xfrm>
        </p:spPr>
        <p:txBody>
          <a:bodyPr>
            <a:normAutofit/>
          </a:bodyPr>
          <a:lstStyle/>
          <a:p>
            <a:r>
              <a:rPr lang="en-US" sz="3200" dirty="0">
                <a:latin typeface="Arial" panose="020B0604020202020204" pitchFamily="34" charset="0"/>
                <a:cs typeface="Arial" panose="020B0604020202020204" pitchFamily="34" charset="0"/>
              </a:rPr>
              <a:t>Day3: </a:t>
            </a:r>
            <a:r>
              <a:rPr lang="en-IN" sz="3200" dirty="0">
                <a:latin typeface="Arial" panose="020B0604020202020204" pitchFamily="34" charset="0"/>
                <a:cs typeface="Arial" panose="020B0604020202020204" pitchFamily="34" charset="0"/>
              </a:rPr>
              <a:t>Data Warehouse &amp; </a:t>
            </a:r>
            <a:r>
              <a:rPr lang="en-IN" sz="3200" dirty="0" err="1">
                <a:latin typeface="Arial" panose="020B0604020202020204" pitchFamily="34" charset="0"/>
                <a:cs typeface="Arial" panose="020B0604020202020204" pitchFamily="34" charset="0"/>
              </a:rPr>
              <a:t>PySpark</a:t>
            </a:r>
            <a:r>
              <a:rPr lang="en-IN" sz="3200" dirty="0">
                <a:latin typeface="Arial" panose="020B0604020202020204" pitchFamily="34" charset="0"/>
                <a:cs typeface="Arial" panose="020B0604020202020204" pitchFamily="34" charset="0"/>
              </a:rPr>
              <a:t> ETL</a:t>
            </a:r>
          </a:p>
        </p:txBody>
      </p:sp>
      <p:sp>
        <p:nvSpPr>
          <p:cNvPr id="3" name="Content Placeholder 2">
            <a:extLst>
              <a:ext uri="{FF2B5EF4-FFF2-40B4-BE49-F238E27FC236}">
                <a16:creationId xmlns:a16="http://schemas.microsoft.com/office/drawing/2014/main" id="{6B8A6067-16B8-85EF-AD01-7C1D67370856}"/>
              </a:ext>
            </a:extLst>
          </p:cNvPr>
          <p:cNvSpPr>
            <a:spLocks noGrp="1"/>
          </p:cNvSpPr>
          <p:nvPr>
            <p:ph idx="1"/>
          </p:nvPr>
        </p:nvSpPr>
        <p:spPr>
          <a:xfrm>
            <a:off x="838200" y="1298448"/>
            <a:ext cx="10515600" cy="4878515"/>
          </a:xfrm>
        </p:spPr>
        <p:txBody>
          <a:bodyPr>
            <a:normAutofit fontScale="92500" lnSpcReduction="20000"/>
          </a:bodyPr>
          <a:lstStyle/>
          <a:p>
            <a:pPr marL="0" indent="0">
              <a:lnSpc>
                <a:spcPct val="150000"/>
              </a:lnSpc>
              <a:buNone/>
            </a:pPr>
            <a:r>
              <a:rPr lang="en-US" sz="2600" b="1" dirty="0">
                <a:solidFill>
                  <a:schemeClr val="accent1"/>
                </a:solidFill>
              </a:rPr>
              <a:t>Goal: </a:t>
            </a:r>
            <a:br>
              <a:rPr lang="en-US" sz="2000" dirty="0"/>
            </a:br>
            <a:r>
              <a:rPr lang="en-US" sz="2000" dirty="0"/>
              <a:t>Build the analytical data warehouse so business users can run reports and dashboards. On Day 3 we transform refined data into dimension and fact tables, apply history tracking (SCD), and load analytics-ready data into Azure SQL / Synapse for Power BI and reporting.</a:t>
            </a:r>
          </a:p>
          <a:p>
            <a:pPr marL="0" indent="0">
              <a:lnSpc>
                <a:spcPct val="150000"/>
              </a:lnSpc>
              <a:buNone/>
            </a:pPr>
            <a:r>
              <a:rPr lang="en-US" sz="2200" b="1" dirty="0">
                <a:solidFill>
                  <a:schemeClr val="accent1"/>
                </a:solidFill>
              </a:rPr>
              <a:t>Requirements:</a:t>
            </a:r>
            <a:br>
              <a:rPr lang="en-US" sz="2000" dirty="0"/>
            </a:br>
            <a:r>
              <a:rPr lang="en-US" sz="2000" dirty="0"/>
              <a:t>- ADLS Gen2 (Silver layer) with cleaned data from Day 2</a:t>
            </a:r>
          </a:p>
          <a:p>
            <a:pPr>
              <a:lnSpc>
                <a:spcPct val="150000"/>
              </a:lnSpc>
              <a:buFontTx/>
              <a:buChar char="-"/>
            </a:pPr>
            <a:r>
              <a:rPr lang="en-US" sz="2000" dirty="0"/>
              <a:t>Databricks or Synapse Spark workspace for </a:t>
            </a:r>
            <a:r>
              <a:rPr lang="en-US" sz="2000" dirty="0" err="1"/>
              <a:t>PySpark</a:t>
            </a:r>
            <a:r>
              <a:rPr lang="en-US" sz="2000" dirty="0"/>
              <a:t> jobs</a:t>
            </a:r>
          </a:p>
          <a:p>
            <a:pPr marL="0" indent="0">
              <a:lnSpc>
                <a:spcPct val="150000"/>
              </a:lnSpc>
              <a:buNone/>
            </a:pPr>
            <a:r>
              <a:rPr lang="en-US" sz="2000" dirty="0"/>
              <a:t>- </a:t>
            </a:r>
            <a:r>
              <a:rPr lang="en-IN" sz="2000" dirty="0"/>
              <a:t>Azure SQL Database or Synapse SQL</a:t>
            </a:r>
          </a:p>
          <a:p>
            <a:pPr>
              <a:lnSpc>
                <a:spcPct val="150000"/>
              </a:lnSpc>
              <a:buFontTx/>
              <a:buChar char="-"/>
            </a:pPr>
            <a:r>
              <a:rPr lang="en-IN" sz="2000" dirty="0"/>
              <a:t>Azure Function time-trigger (</a:t>
            </a:r>
            <a:r>
              <a:rPr lang="en-US" sz="2000" dirty="0"/>
              <a:t>Synchronize full customer master data from source.</a:t>
            </a:r>
          </a:p>
          <a:p>
            <a:pPr marL="0" indent="0">
              <a:lnSpc>
                <a:spcPct val="150000"/>
              </a:lnSpc>
              <a:buNone/>
            </a:pPr>
            <a:r>
              <a:rPr lang="en-US" sz="2000" dirty="0"/>
              <a:t>- Azure Function Time-trigger (to </a:t>
            </a:r>
            <a:r>
              <a:rPr lang="en-IN" sz="2000" dirty="0"/>
              <a:t>Update account status )</a:t>
            </a:r>
          </a:p>
          <a:p>
            <a:pPr marL="0" indent="0">
              <a:buNone/>
            </a:pPr>
            <a:endParaRPr lang="en-US" sz="2000" dirty="0"/>
          </a:p>
          <a:p>
            <a:pPr marL="0" indent="0">
              <a:buNone/>
            </a:pPr>
            <a:endParaRPr lang="en-IN" sz="2400" dirty="0"/>
          </a:p>
        </p:txBody>
      </p:sp>
    </p:spTree>
    <p:extLst>
      <p:ext uri="{BB962C8B-B14F-4D97-AF65-F5344CB8AC3E}">
        <p14:creationId xmlns:p14="http://schemas.microsoft.com/office/powerpoint/2010/main" val="1918592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F7DB-F249-6155-3792-8DC72BD1E2A5}"/>
              </a:ext>
            </a:extLst>
          </p:cNvPr>
          <p:cNvSpPr>
            <a:spLocks noGrp="1"/>
          </p:cNvSpPr>
          <p:nvPr>
            <p:ph type="title"/>
          </p:nvPr>
        </p:nvSpPr>
        <p:spPr>
          <a:xfrm>
            <a:off x="838200" y="227965"/>
            <a:ext cx="10515600" cy="759587"/>
          </a:xfrm>
        </p:spPr>
        <p:txBody>
          <a:bodyPr>
            <a:normAutofit/>
          </a:bodyPr>
          <a:lstStyle/>
          <a:p>
            <a:r>
              <a:rPr lang="en-US" sz="2800" b="1" dirty="0">
                <a:solidFill>
                  <a:schemeClr val="accent1"/>
                </a:solidFill>
                <a:latin typeface="Arial" panose="020B0604020202020204" pitchFamily="34" charset="0"/>
                <a:cs typeface="Arial" panose="020B0604020202020204" pitchFamily="34" charset="0"/>
              </a:rPr>
              <a:t>Work flow of the Day3:</a:t>
            </a:r>
            <a:endParaRPr lang="en-IN" sz="2800" b="1"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805FFC6-0353-74CF-DDA5-BE1C9FC2BC4D}"/>
              </a:ext>
            </a:extLst>
          </p:cNvPr>
          <p:cNvSpPr>
            <a:spLocks noGrp="1"/>
          </p:cNvSpPr>
          <p:nvPr>
            <p:ph idx="1"/>
          </p:nvPr>
        </p:nvSpPr>
        <p:spPr>
          <a:xfrm>
            <a:off x="838200" y="859536"/>
            <a:ext cx="10515600" cy="5925312"/>
          </a:xfrm>
        </p:spPr>
        <p:txBody>
          <a:bodyPr>
            <a:normAutofit/>
          </a:bodyPr>
          <a:lstStyle/>
          <a:p>
            <a:pPr marL="0" indent="0">
              <a:lnSpc>
                <a:spcPct val="150000"/>
              </a:lnSpc>
              <a:buNone/>
            </a:pPr>
            <a:r>
              <a:rPr lang="en-US" sz="1800" dirty="0">
                <a:latin typeface="Arial" panose="020B0604020202020204" pitchFamily="34" charset="0"/>
                <a:cs typeface="Arial" panose="020B0604020202020204" pitchFamily="34" charset="0"/>
              </a:rPr>
              <a:t>We start with the cleaned Silver data from ADLS using </a:t>
            </a:r>
            <a:r>
              <a:rPr lang="en-US" sz="1800" dirty="0" err="1">
                <a:latin typeface="Arial" panose="020B0604020202020204" pitchFamily="34" charset="0"/>
                <a:cs typeface="Arial" panose="020B0604020202020204" pitchFamily="34" charset="0"/>
              </a:rPr>
              <a:t>PySpark</a:t>
            </a:r>
            <a:r>
              <a:rPr lang="en-US" sz="1800" dirty="0">
                <a:latin typeface="Arial" panose="020B0604020202020204" pitchFamily="34" charset="0"/>
                <a:cs typeface="Arial" panose="020B0604020202020204" pitchFamily="34" charset="0"/>
              </a:rPr>
              <a:t>. The ETL job will apply business rules and transform the data into a star schema: dimension tables (Customer, Account, Branch, Product, Date) and fact tables (</a:t>
            </a:r>
            <a:r>
              <a:rPr lang="en-US" sz="1800" dirty="0" err="1">
                <a:latin typeface="Arial" panose="020B0604020202020204" pitchFamily="34" charset="0"/>
                <a:cs typeface="Arial" panose="020B0604020202020204" pitchFamily="34" charset="0"/>
              </a:rPr>
              <a:t>FactTransactions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FactFraudDetection</a:t>
            </a:r>
            <a:r>
              <a:rPr lang="en-US" sz="1800" dirty="0">
                <a:latin typeface="Arial" panose="020B0604020202020204" pitchFamily="34" charset="0"/>
                <a:cs typeface="Arial" panose="020B0604020202020204" pitchFamily="34" charset="0"/>
              </a:rPr>
              <a:t>). For changing customer attributes we apply SCD Type-2 logic so historical changes are preserved. The job uses MERGE/UPSERT to efficiently update dimension and fact tables in the SQL data warehouse. Finally, we schedule daily sync jobs (timer functions o) to keep the warehouse up to date and monitor the runs in App Insights.</a:t>
            </a:r>
          </a:p>
          <a:p>
            <a:pPr marL="0" indent="0">
              <a:lnSpc>
                <a:spcPct val="150000"/>
              </a:lnSpc>
              <a:buNone/>
            </a:pPr>
            <a:br>
              <a:rPr lang="en-US" sz="1800" dirty="0">
                <a:latin typeface="Arial" panose="020B0604020202020204" pitchFamily="34" charset="0"/>
                <a:cs typeface="Arial" panose="020B0604020202020204" pitchFamily="34" charset="0"/>
              </a:rPr>
            </a:br>
            <a:r>
              <a:rPr lang="en-US" sz="2000" b="1" dirty="0">
                <a:solidFill>
                  <a:schemeClr val="accent1"/>
                </a:solidFill>
                <a:latin typeface="Arial" panose="020B0604020202020204" pitchFamily="34" charset="0"/>
                <a:cs typeface="Arial" panose="020B0604020202020204" pitchFamily="34" charset="0"/>
              </a:rPr>
              <a:t>Validation: </a:t>
            </a:r>
            <a:r>
              <a:rPr lang="en-IN" sz="1800" dirty="0"/>
              <a:t>Silver Data Present → </a:t>
            </a:r>
            <a:r>
              <a:rPr lang="en-IN" sz="1800" dirty="0" err="1"/>
              <a:t>PySpark</a:t>
            </a:r>
            <a:r>
              <a:rPr lang="en-IN" sz="1800" dirty="0"/>
              <a:t> Job Runs → Transformations Applied →MERGE/UPSERT Executes → Data in Dim Tables (</a:t>
            </a:r>
            <a:r>
              <a:rPr lang="en-IN" sz="1800" dirty="0" err="1"/>
              <a:t>DimCustomer</a:t>
            </a:r>
            <a:r>
              <a:rPr lang="en-IN" sz="1800" dirty="0"/>
              <a:t>, </a:t>
            </a:r>
            <a:r>
              <a:rPr lang="en-IN" sz="1800" dirty="0" err="1"/>
              <a:t>DimAccount</a:t>
            </a:r>
            <a:r>
              <a:rPr lang="en-IN" sz="1800" dirty="0"/>
              <a:t>, </a:t>
            </a:r>
            <a:r>
              <a:rPr lang="en-IN" sz="1800" dirty="0" err="1"/>
              <a:t>DimBranch</a:t>
            </a:r>
            <a:r>
              <a:rPr lang="en-IN" sz="1800" dirty="0"/>
              <a:t>, </a:t>
            </a:r>
            <a:r>
              <a:rPr lang="en-IN" sz="1800" dirty="0" err="1"/>
              <a:t>DimProduct</a:t>
            </a:r>
            <a:r>
              <a:rPr lang="en-IN" sz="1800" dirty="0"/>
              <a:t>, </a:t>
            </a:r>
            <a:r>
              <a:rPr lang="en-IN" sz="1800" dirty="0" err="1"/>
              <a:t>DimDate</a:t>
            </a:r>
            <a:r>
              <a:rPr lang="en-IN" sz="1800" dirty="0"/>
              <a:t>) → Data in Fact Tables (</a:t>
            </a:r>
            <a:r>
              <a:rPr lang="en-IN" sz="1800" dirty="0" err="1"/>
              <a:t>FactTransactions</a:t>
            </a:r>
            <a:r>
              <a:rPr lang="en-IN" sz="1800" dirty="0"/>
              <a:t>, </a:t>
            </a:r>
            <a:r>
              <a:rPr lang="en-IN" sz="1800" dirty="0" err="1"/>
              <a:t>FactFraudDetection</a:t>
            </a:r>
            <a:r>
              <a:rPr lang="en-IN" sz="1800" dirty="0"/>
              <a:t>) → Row Counts Match Expected → Sample BI Query Returns Results → ETL Logs in App Insights </a:t>
            </a:r>
          </a:p>
          <a:p>
            <a:pPr>
              <a:lnSpc>
                <a:spcPct val="150000"/>
              </a:lnSpc>
            </a:pP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345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B969A-9EDB-61C4-3FA4-707325BF5BEF}"/>
              </a:ext>
            </a:extLst>
          </p:cNvPr>
          <p:cNvSpPr>
            <a:spLocks noGrp="1"/>
          </p:cNvSpPr>
          <p:nvPr>
            <p:ph type="title"/>
          </p:nvPr>
        </p:nvSpPr>
        <p:spPr>
          <a:xfrm>
            <a:off x="838200" y="365125"/>
            <a:ext cx="10515600" cy="878459"/>
          </a:xfrm>
        </p:spPr>
        <p:txBody>
          <a:bodyPr>
            <a:normAutofit/>
          </a:bodyPr>
          <a:lstStyle/>
          <a:p>
            <a:r>
              <a:rPr lang="en-US" sz="3200" dirty="0">
                <a:latin typeface="Arial" panose="020B0604020202020204" pitchFamily="34" charset="0"/>
                <a:cs typeface="Arial" panose="020B0604020202020204" pitchFamily="34" charset="0"/>
              </a:rPr>
              <a:t>DAY4: </a:t>
            </a:r>
            <a:r>
              <a:rPr lang="en-IN" sz="3200" dirty="0">
                <a:latin typeface="Arial" panose="020B0604020202020204" pitchFamily="34" charset="0"/>
                <a:cs typeface="Arial" panose="020B0604020202020204" pitchFamily="34" charset="0"/>
              </a:rPr>
              <a:t>Real-Time Alerts&amp; CI/CD Pipeline</a:t>
            </a:r>
          </a:p>
        </p:txBody>
      </p:sp>
      <p:sp>
        <p:nvSpPr>
          <p:cNvPr id="3" name="Content Placeholder 2">
            <a:extLst>
              <a:ext uri="{FF2B5EF4-FFF2-40B4-BE49-F238E27FC236}">
                <a16:creationId xmlns:a16="http://schemas.microsoft.com/office/drawing/2014/main" id="{35268A91-5F1F-AC06-1856-25213508A106}"/>
              </a:ext>
            </a:extLst>
          </p:cNvPr>
          <p:cNvSpPr>
            <a:spLocks noGrp="1"/>
          </p:cNvSpPr>
          <p:nvPr>
            <p:ph idx="1"/>
          </p:nvPr>
        </p:nvSpPr>
        <p:spPr>
          <a:xfrm>
            <a:off x="838200" y="1078992"/>
            <a:ext cx="10515600" cy="5097971"/>
          </a:xfrm>
        </p:spPr>
        <p:txBody>
          <a:bodyPr>
            <a:normAutofit lnSpcReduction="10000"/>
          </a:bodyPr>
          <a:lstStyle/>
          <a:p>
            <a:pPr marL="0" indent="0">
              <a:lnSpc>
                <a:spcPct val="150000"/>
              </a:lnSpc>
              <a:buNone/>
            </a:pPr>
            <a:r>
              <a:rPr lang="en-US" b="1" dirty="0">
                <a:solidFill>
                  <a:schemeClr val="accent1"/>
                </a:solidFill>
              </a:rPr>
              <a:t>Goal:</a:t>
            </a:r>
          </a:p>
          <a:p>
            <a:pPr marL="0" indent="0">
              <a:lnSpc>
                <a:spcPct val="150000"/>
              </a:lnSpc>
              <a:buNone/>
            </a:pPr>
            <a:r>
              <a:rPr lang="en-US" sz="2000" dirty="0"/>
              <a:t>Detect suspicious transactions in real time, secure the platform, and automate deployments. On Day 4 we build the real-time alerting pipeline for fraud, enforce network-level security, and add CI/CD so code and ETL jobs deploy safely and quickly.</a:t>
            </a:r>
          </a:p>
          <a:p>
            <a:pPr marL="0" indent="0">
              <a:lnSpc>
                <a:spcPct val="150000"/>
              </a:lnSpc>
              <a:buNone/>
            </a:pPr>
            <a:r>
              <a:rPr lang="en-US" sz="2400" b="1" dirty="0">
                <a:solidFill>
                  <a:schemeClr val="accent1"/>
                </a:solidFill>
              </a:rPr>
              <a:t>Requirements:</a:t>
            </a:r>
          </a:p>
          <a:p>
            <a:pPr marL="0" indent="0">
              <a:lnSpc>
                <a:spcPct val="150000"/>
              </a:lnSpc>
              <a:buNone/>
            </a:pPr>
            <a:r>
              <a:rPr lang="en-US" sz="2000" dirty="0"/>
              <a:t>- Event Grid and Service Bus configured from previous days </a:t>
            </a:r>
          </a:p>
          <a:p>
            <a:pPr marL="0" indent="0">
              <a:lnSpc>
                <a:spcPct val="150000"/>
              </a:lnSpc>
              <a:buNone/>
            </a:pPr>
            <a:r>
              <a:rPr lang="en-US" sz="2000" dirty="0"/>
              <a:t>-  Azure Functions with Event Grid trigger permissions</a:t>
            </a:r>
          </a:p>
          <a:p>
            <a:pPr marL="0" indent="0">
              <a:lnSpc>
                <a:spcPct val="150000"/>
              </a:lnSpc>
              <a:buNone/>
            </a:pPr>
            <a:r>
              <a:rPr lang="en-US" sz="2000" dirty="0"/>
              <a:t>-  Cosmos DB (</a:t>
            </a:r>
            <a:r>
              <a:rPr lang="en-US" sz="2000" dirty="0" err="1"/>
              <a:t>FraudAlerts</a:t>
            </a:r>
            <a:r>
              <a:rPr lang="en-US" sz="2000" dirty="0"/>
              <a:t> collection) and Service Bus for notifications</a:t>
            </a:r>
          </a:p>
          <a:p>
            <a:pPr marL="0" indent="0">
              <a:lnSpc>
                <a:spcPct val="150000"/>
              </a:lnSpc>
              <a:buNone/>
            </a:pPr>
            <a:r>
              <a:rPr lang="en-IN" sz="2000" dirty="0"/>
              <a:t>-  Jenkins is used for the CI/CD pipelines</a:t>
            </a:r>
          </a:p>
        </p:txBody>
      </p:sp>
    </p:spTree>
    <p:extLst>
      <p:ext uri="{BB962C8B-B14F-4D97-AF65-F5344CB8AC3E}">
        <p14:creationId xmlns:p14="http://schemas.microsoft.com/office/powerpoint/2010/main" val="3191962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96DB6F-093B-CB81-8747-A02DB4C7896D}"/>
              </a:ext>
            </a:extLst>
          </p:cNvPr>
          <p:cNvSpPr>
            <a:spLocks noGrp="1"/>
          </p:cNvSpPr>
          <p:nvPr>
            <p:ph idx="1"/>
          </p:nvPr>
        </p:nvSpPr>
        <p:spPr>
          <a:xfrm>
            <a:off x="527304" y="545464"/>
            <a:ext cx="10515600" cy="5654167"/>
          </a:xfrm>
        </p:spPr>
        <p:txBody>
          <a:bodyPr>
            <a:normAutofit lnSpcReduction="10000"/>
          </a:bodyPr>
          <a:lstStyle/>
          <a:p>
            <a:pPr marL="0" indent="0">
              <a:lnSpc>
                <a:spcPct val="150000"/>
              </a:lnSpc>
              <a:buNone/>
            </a:pPr>
            <a:r>
              <a:rPr lang="en-US" b="1" dirty="0">
                <a:solidFill>
                  <a:schemeClr val="accent1"/>
                </a:solidFill>
              </a:rPr>
              <a:t>Workflow of the Day4:</a:t>
            </a:r>
          </a:p>
          <a:p>
            <a:pPr marL="0" indent="0">
              <a:lnSpc>
                <a:spcPct val="150000"/>
              </a:lnSpc>
              <a:buNone/>
            </a:pPr>
            <a:r>
              <a:rPr lang="en-US" sz="2200" dirty="0"/>
              <a:t>First, we add an Event Grid listener that fires when high-value or suspicious transactions arrive. An Azure Function receives the event, runs quick anomaly checks (location, frequency, unusual time), and writes any alert to the </a:t>
            </a:r>
            <a:r>
              <a:rPr lang="en-US" sz="2200" dirty="0" err="1"/>
              <a:t>FraudAlerts</a:t>
            </a:r>
            <a:r>
              <a:rPr lang="en-US" sz="2200" dirty="0"/>
              <a:t> collection in Cosmos DB. If an alert is confirmed, the function pushes a message to Service Bus . At the same time, we lock down network access by applying firewall rules and private endpoints so databases and workspaces are not public. Finally, we wire CI/CD so Functions using the Jenkins</a:t>
            </a:r>
          </a:p>
          <a:p>
            <a:pPr marL="0" indent="0">
              <a:lnSpc>
                <a:spcPct val="150000"/>
              </a:lnSpc>
              <a:buNone/>
            </a:pPr>
            <a:br>
              <a:rPr lang="en-US" dirty="0"/>
            </a:br>
            <a:r>
              <a:rPr lang="en-US" sz="2400" b="1" dirty="0">
                <a:solidFill>
                  <a:schemeClr val="accent1"/>
                </a:solidFill>
              </a:rPr>
              <a:t>Validation: </a:t>
            </a:r>
            <a:r>
              <a:rPr lang="en-IN" sz="2400" dirty="0"/>
              <a:t>Event Grid → Azure Function → Anomaly Check → </a:t>
            </a:r>
            <a:r>
              <a:rPr lang="en-IN" sz="2400" dirty="0" err="1"/>
              <a:t>FraudAlerts</a:t>
            </a:r>
            <a:r>
              <a:rPr lang="en-IN" sz="2400" dirty="0"/>
              <a:t> (Cosmos DB) → Service Bus → Notification → App Insights logs</a:t>
            </a:r>
            <a:endParaRPr lang="en-IN" dirty="0"/>
          </a:p>
        </p:txBody>
      </p:sp>
    </p:spTree>
    <p:extLst>
      <p:ext uri="{BB962C8B-B14F-4D97-AF65-F5344CB8AC3E}">
        <p14:creationId xmlns:p14="http://schemas.microsoft.com/office/powerpoint/2010/main" val="1730412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EC787-393A-8B45-7171-6FDB698387D8}"/>
              </a:ext>
            </a:extLst>
          </p:cNvPr>
          <p:cNvSpPr>
            <a:spLocks noGrp="1"/>
          </p:cNvSpPr>
          <p:nvPr>
            <p:ph type="title"/>
          </p:nvPr>
        </p:nvSpPr>
        <p:spPr>
          <a:xfrm>
            <a:off x="838200" y="365125"/>
            <a:ext cx="10515600" cy="841883"/>
          </a:xfrm>
        </p:spPr>
        <p:txBody>
          <a:bodyPr>
            <a:normAutofit/>
          </a:bodyPr>
          <a:lstStyle/>
          <a:p>
            <a:r>
              <a:rPr lang="en-US" sz="3200" dirty="0">
                <a:latin typeface="Arial" panose="020B0604020202020204" pitchFamily="34" charset="0"/>
                <a:cs typeface="Arial" panose="020B0604020202020204" pitchFamily="34" charset="0"/>
              </a:rPr>
              <a:t>Day5: Reporting – Power BI</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EA683D3-BD8E-AA58-3544-7C7A6488DC50}"/>
              </a:ext>
            </a:extLst>
          </p:cNvPr>
          <p:cNvSpPr>
            <a:spLocks noGrp="1"/>
          </p:cNvSpPr>
          <p:nvPr>
            <p:ph idx="1"/>
          </p:nvPr>
        </p:nvSpPr>
        <p:spPr>
          <a:xfrm>
            <a:off x="838200" y="1051560"/>
            <a:ext cx="10515600" cy="5441315"/>
          </a:xfrm>
        </p:spPr>
        <p:txBody>
          <a:bodyPr>
            <a:normAutofit fontScale="85000" lnSpcReduction="20000"/>
          </a:bodyPr>
          <a:lstStyle/>
          <a:p>
            <a:pPr marL="0" indent="0">
              <a:lnSpc>
                <a:spcPct val="150000"/>
              </a:lnSpc>
              <a:buNone/>
            </a:pPr>
            <a:r>
              <a:rPr lang="en-US" b="1" dirty="0">
                <a:solidFill>
                  <a:schemeClr val="accent1"/>
                </a:solidFill>
              </a:rPr>
              <a:t>Goal:</a:t>
            </a:r>
          </a:p>
          <a:p>
            <a:pPr marL="0" indent="0">
              <a:lnSpc>
                <a:spcPct val="150000"/>
              </a:lnSpc>
              <a:buNone/>
            </a:pPr>
            <a:r>
              <a:rPr lang="en-US" sz="2600" dirty="0"/>
              <a:t>The goal for Day 5 is to turn processed data into business insights and dashboards. We will build Power BI reports and can see transaction trends, branch performance, fraud analytics, and regulatory reports in one place</a:t>
            </a:r>
            <a:br>
              <a:rPr lang="en-US" sz="2600" dirty="0"/>
            </a:br>
            <a:r>
              <a:rPr lang="en-US" b="1" dirty="0">
                <a:solidFill>
                  <a:schemeClr val="accent1"/>
                </a:solidFill>
              </a:rPr>
              <a:t>Requirements:</a:t>
            </a:r>
          </a:p>
          <a:p>
            <a:pPr marL="0" indent="0">
              <a:lnSpc>
                <a:spcPct val="150000"/>
              </a:lnSpc>
              <a:buNone/>
            </a:pPr>
            <a:r>
              <a:rPr lang="en-US" sz="2700" dirty="0"/>
              <a:t>&gt; SQL Server database with account credentials </a:t>
            </a:r>
            <a:br>
              <a:rPr lang="en-US" sz="2700" dirty="0"/>
            </a:br>
            <a:r>
              <a:rPr lang="en-US" sz="2700" dirty="0"/>
              <a:t>    - Username</a:t>
            </a:r>
            <a:br>
              <a:rPr lang="en-US" sz="2700" dirty="0"/>
            </a:br>
            <a:r>
              <a:rPr lang="en-US" sz="2700" dirty="0"/>
              <a:t>    -  Password</a:t>
            </a:r>
            <a:br>
              <a:rPr lang="en-US" sz="2700" dirty="0"/>
            </a:br>
            <a:r>
              <a:rPr lang="en-US" sz="2700" dirty="0"/>
              <a:t>&gt; Power BI </a:t>
            </a:r>
            <a:r>
              <a:rPr lang="en-US" sz="2700" dirty="0" err="1"/>
              <a:t>WorkSpace</a:t>
            </a:r>
            <a:br>
              <a:rPr lang="en-US" sz="2700" dirty="0"/>
            </a:br>
            <a:r>
              <a:rPr lang="en-US" sz="2700" dirty="0"/>
              <a:t>&gt; Sample datasets and KPIs defined (branch KPIs, transaction volumes)</a:t>
            </a:r>
            <a:br>
              <a:rPr lang="en-US" sz="2700" dirty="0"/>
            </a:br>
            <a:endParaRPr lang="en-IN" sz="2700" dirty="0"/>
          </a:p>
        </p:txBody>
      </p:sp>
    </p:spTree>
    <p:extLst>
      <p:ext uri="{BB962C8B-B14F-4D97-AF65-F5344CB8AC3E}">
        <p14:creationId xmlns:p14="http://schemas.microsoft.com/office/powerpoint/2010/main" val="351436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26A6-A13F-3302-C027-CA2458837525}"/>
              </a:ext>
            </a:extLst>
          </p:cNvPr>
          <p:cNvSpPr>
            <a:spLocks noGrp="1"/>
          </p:cNvSpPr>
          <p:nvPr>
            <p:ph type="title"/>
          </p:nvPr>
        </p:nvSpPr>
        <p:spPr>
          <a:xfrm>
            <a:off x="838200" y="18255"/>
            <a:ext cx="10515600" cy="1325563"/>
          </a:xfrm>
        </p:spPr>
        <p:txBody>
          <a:bodyPr>
            <a:normAutofit/>
          </a:bodyPr>
          <a:lstStyle/>
          <a:p>
            <a:r>
              <a:rPr lang="en-US" sz="3200" b="1" dirty="0">
                <a:solidFill>
                  <a:schemeClr val="accent1"/>
                </a:solidFill>
                <a:latin typeface="Arial" panose="020B0604020202020204" pitchFamily="34" charset="0"/>
                <a:cs typeface="Arial" panose="020B0604020202020204" pitchFamily="34" charset="0"/>
              </a:rPr>
              <a:t>Workflow of the Day5:</a:t>
            </a:r>
            <a:endParaRPr lang="en-IN" sz="3200" b="1"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4464F25-A109-D087-8BE1-7476F70E986B}"/>
              </a:ext>
            </a:extLst>
          </p:cNvPr>
          <p:cNvSpPr>
            <a:spLocks noGrp="1"/>
          </p:cNvSpPr>
          <p:nvPr>
            <p:ph idx="1"/>
          </p:nvPr>
        </p:nvSpPr>
        <p:spPr>
          <a:xfrm>
            <a:off x="838200" y="984376"/>
            <a:ext cx="10515600" cy="5590159"/>
          </a:xfrm>
        </p:spPr>
        <p:txBody>
          <a:bodyPr>
            <a:normAutofit/>
          </a:bodyPr>
          <a:lstStyle/>
          <a:p>
            <a:pPr marL="0" indent="0">
              <a:lnSpc>
                <a:spcPct val="150000"/>
              </a:lnSpc>
              <a:buNone/>
            </a:pPr>
            <a:r>
              <a:rPr lang="en-US" sz="2400" dirty="0"/>
              <a:t>We begin by listing the business KPIs and sample reports needed: branch performance, daily transaction volume, fraud </a:t>
            </a:r>
            <a:r>
              <a:rPr lang="en-US" sz="2400" dirty="0" err="1"/>
              <a:t>analytics.Next</a:t>
            </a:r>
            <a:r>
              <a:rPr lang="en-US" sz="2400" dirty="0"/>
              <a:t>, we connect Power BI to the SQL server Database Credentials into the dashboard. We build data models and measure calculations (</a:t>
            </a:r>
            <a:r>
              <a:rPr lang="en-US" sz="2400" dirty="0" err="1"/>
              <a:t>rvolume</a:t>
            </a:r>
            <a:r>
              <a:rPr lang="en-US" sz="2400" dirty="0"/>
              <a:t>, success rates, fraud count). Then we design clean visuals and interactive filters (by date, branch, channel). Finally, we schedule dataset refreshes, and a simulated fraud alert to prove end-to-end flow.</a:t>
            </a:r>
            <a:br>
              <a:rPr lang="en-US" sz="2400" dirty="0"/>
            </a:br>
            <a:endParaRPr lang="en-US" sz="2400" dirty="0"/>
          </a:p>
          <a:p>
            <a:pPr marL="0" indent="0">
              <a:lnSpc>
                <a:spcPct val="150000"/>
              </a:lnSpc>
              <a:buNone/>
            </a:pPr>
            <a:r>
              <a:rPr lang="en-US" sz="2400" b="1" dirty="0">
                <a:solidFill>
                  <a:schemeClr val="accent1"/>
                </a:solidFill>
              </a:rPr>
              <a:t>Validation:</a:t>
            </a:r>
            <a:r>
              <a:rPr lang="en-IN" sz="2400" b="1" dirty="0">
                <a:solidFill>
                  <a:schemeClr val="accent1"/>
                </a:solidFill>
              </a:rPr>
              <a:t> </a:t>
            </a:r>
            <a:r>
              <a:rPr lang="en-IN" sz="2400" dirty="0" err="1"/>
              <a:t>Sql</a:t>
            </a:r>
            <a:r>
              <a:rPr lang="en-IN" sz="2400" dirty="0"/>
              <a:t> Server  Database→ Power BI Data Model → Create Measures → Build Dashboards → Configure Refresh  → Publish &amp; Share </a:t>
            </a:r>
          </a:p>
        </p:txBody>
      </p:sp>
    </p:spTree>
    <p:extLst>
      <p:ext uri="{BB962C8B-B14F-4D97-AF65-F5344CB8AC3E}">
        <p14:creationId xmlns:p14="http://schemas.microsoft.com/office/powerpoint/2010/main" val="3721479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1406</Words>
  <Application>Microsoft Office PowerPoint</Application>
  <PresentationFormat>Widescreen</PresentationFormat>
  <Paragraphs>62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Banking Data Engineering Project</vt:lpstr>
      <vt:lpstr>Main Objective :</vt:lpstr>
      <vt:lpstr>DAY 1: Architecture &amp; Ingestion</vt:lpstr>
      <vt:lpstr>PowerPoint Presentation</vt:lpstr>
      <vt:lpstr>Day2 : Transformation Layer </vt:lpstr>
      <vt:lpstr>PowerPoint Presentation</vt:lpstr>
      <vt:lpstr>Day3: Data Warehouse &amp; PySpark ETL</vt:lpstr>
      <vt:lpstr>Work flow of the Day3:</vt:lpstr>
      <vt:lpstr>DAY4: Real-Time Alerts&amp; CI/CD Pipeline</vt:lpstr>
      <vt:lpstr>PowerPoint Presentation</vt:lpstr>
      <vt:lpstr>Day5: Reporting – Power BI</vt:lpstr>
      <vt:lpstr>Workflow of the Day5: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Charitha</dc:creator>
  <cp:lastModifiedBy>Sai Charitha</cp:lastModifiedBy>
  <cp:revision>3</cp:revision>
  <dcterms:created xsi:type="dcterms:W3CDTF">2025-12-10T12:08:33Z</dcterms:created>
  <dcterms:modified xsi:type="dcterms:W3CDTF">2025-12-10T13:36:38Z</dcterms:modified>
</cp:coreProperties>
</file>